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8" r:id="rId4"/>
    <p:sldId id="257" r:id="rId5"/>
    <p:sldId id="258" r:id="rId6"/>
    <p:sldId id="259" r:id="rId7"/>
    <p:sldId id="260" r:id="rId8"/>
    <p:sldId id="261" r:id="rId9"/>
    <p:sldId id="270" r:id="rId10"/>
    <p:sldId id="262" r:id="rId11"/>
    <p:sldId id="264" r:id="rId12"/>
    <p:sldId id="263" r:id="rId13"/>
    <p:sldId id="265" r:id="rId14"/>
    <p:sldId id="266" r:id="rId15"/>
    <p:sldId id="267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correlation</c:v>
                </c:pt>
              </c:strCache>
            </c:strRef>
          </c:tx>
          <c:spPr>
            <a:solidFill>
              <a:srgbClr val="2D6CDF"/>
            </a:solidFill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Lights</c:v>
                </c:pt>
                <c:pt idx="1">
                  <c:v>Temp2</c:v>
                </c:pt>
                <c:pt idx="2">
                  <c:v>OutdoorTemp</c:v>
                </c:pt>
                <c:pt idx="3">
                  <c:v>Hour</c:v>
                </c:pt>
                <c:pt idx="4">
                  <c:v>WindSpeed</c:v>
                </c:pt>
                <c:pt idx="5">
                  <c:v>OutdoorHumidity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0.197</c:v>
                </c:pt>
                <c:pt idx="1">
                  <c:v>0.12</c:v>
                </c:pt>
                <c:pt idx="2">
                  <c:v>0.099</c:v>
                </c:pt>
                <c:pt idx="3">
                  <c:v>0.217</c:v>
                </c:pt>
                <c:pt idx="4">
                  <c:v>0.087</c:v>
                </c:pt>
                <c:pt idx="5">
                  <c:v>0.152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3e4064e-c47f-4609-bb0e-d6bd3753b622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D6CDF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0.95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7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5ed8ddd-74da-4709-9aa3-81b383701d5c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868680" y="5051425"/>
            <a:ext cx="9875520" cy="4806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sz="2800"/>
              <a:t>Python • Pandas • Seaborn • Scikit-learn</a:t>
            </a:r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873500" y="5534660"/>
            <a:ext cx="3930015" cy="5486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>
                <a:solidFill>
                  <a:srgbClr val="B4C3D7"/>
                </a:solidFill>
              </a:defRPr>
            </a:pPr>
            <a:r>
              <a:rPr sz="2000">
                <a:solidFill>
                  <a:schemeClr val="bg1"/>
                </a:solidFill>
              </a:rPr>
              <a:t>Data Analysis &amp; Machine Learning Project</a:t>
            </a:r>
            <a:endParaRPr sz="200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04063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t>1</a:t>
            </a:r>
            <a:r>
              <a:rPr lang="en-US"/>
              <a:t>.</a:t>
            </a:r>
            <a:r>
              <a:t> Complete Data Analysis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From raw data to regression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215" y="1534160"/>
            <a:ext cx="3026410" cy="6877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Load Dataset</a:t>
            </a:r>
            <a:br/>
            <a:r>
              <a:t>Energydata.csv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167335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695" y="1543050"/>
            <a:ext cx="3026410" cy="6788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Clean Data</a:t>
            </a:r>
            <a:br/>
            <a:r>
              <a:t>Missing + Duplicates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26680" y="167335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175" y="1552575"/>
            <a:ext cx="3026410" cy="6692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Feature Engineering</a:t>
            </a:r>
            <a:br/>
            <a:r>
              <a:t>Date → Year / Month / Hour / Day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692640" y="2350008"/>
            <a:ext cx="347472" cy="365760"/>
          </a:xfrm>
          <a:prstGeom prst="down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8803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F9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215" y="3003550"/>
            <a:ext cx="2888615" cy="7727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EDA</a:t>
            </a:r>
            <a:br/>
            <a:r>
              <a:t>Correlation • Heatmap </a:t>
            </a:r>
          </a:p>
          <a:p>
            <a:pPr algn="ctr">
              <a:defRPr sz="1400" b="1">
                <a:solidFill>
                  <a:srgbClr val="182B4D"/>
                </a:solidFill>
              </a:defRPr>
            </a:pPr>
            <a:r>
              <a:t>• Boxplot • Skewness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86200" y="322783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8803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695" y="3146425"/>
            <a:ext cx="3026410" cy="494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Feature Selection</a:t>
            </a:r>
            <a:br/>
            <a:r>
              <a:t>Correlation &gt; 0.05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26680" y="322783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0" y="28803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175" y="3078480"/>
            <a:ext cx="3026410" cy="5956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Train / Test</a:t>
            </a:r>
            <a:br/>
            <a:r>
              <a:t>80% / 20%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692640" y="3904487"/>
            <a:ext cx="347472" cy="365760"/>
          </a:xfrm>
          <a:prstGeom prst="down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4434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215" y="4622165"/>
            <a:ext cx="3026410" cy="7086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Regression</a:t>
            </a:r>
            <a:br/>
            <a:r>
              <a:t>LR • DT • RF • GB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886200" y="478231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4434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F9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695" y="4597400"/>
            <a:ext cx="3026410" cy="7334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Evaluation</a:t>
            </a:r>
            <a:br/>
            <a:r>
              <a:t>MAE • MSE • RMSE • R²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26680" y="4782312"/>
            <a:ext cx="365760" cy="256032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75320" y="4434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175" y="4607560"/>
            <a:ext cx="3026410" cy="477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182B4D"/>
                </a:solidFill>
              </a:defRPr>
            </a:pPr>
            <a:r>
              <a:t>Best Model</a:t>
            </a:r>
            <a:br/>
            <a:r>
              <a:t>Gradient Boosting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620256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1946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2</a:t>
            </a:r>
            <a:r>
              <a:t>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What are we trying to solve?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Energy consumption changes with appliance usage, temperature, humidity and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Analyze the energy dataset and build regression models to predict appliance energy.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ApplianceEnergy is the target variable we want to predict.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Understand the dataset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Clean and prepare the data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Find relationships and important features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Compare regression algorithms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3664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3</a:t>
            </a:r>
            <a:r>
              <a:t>. 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Initial understanding of the energy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19,735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Original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29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417320"/>
          </a:xfrm>
          <a:prstGeom prst="rect">
            <a:avLst/>
          </a:prstGeom>
          <a:solidFill>
            <a:srgbClr val="2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Appliances / ApplianceEnergy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Energy-related variables include appliance energy, lights, temperature and humidity.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Weather variables include outdoor temperature, pressure, wind speed, visibility and dew point.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Date information is converted into useful time features such as year, month, hour and day of week.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59156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4</a:t>
            </a:r>
            <a:r>
              <a:t>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Making the data ready for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0115"/>
            <a:ext cx="1691640" cy="3524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1">
                <a:solidFill>
                  <a:srgbClr val="182B4D"/>
                </a:solidFill>
              </a:defRPr>
            </a:pPr>
            <a: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691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832"/>
                </a:solidFill>
              </a:defRPr>
            </a:pPr>
            <a:r>
              <a:t>Read Energydata.csv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96312" y="2450592"/>
            <a:ext cx="292608" cy="384048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90115"/>
            <a:ext cx="1691640" cy="2514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1">
                <a:solidFill>
                  <a:srgbClr val="182B4D"/>
                </a:solidFill>
              </a:defRPr>
            </a:pPr>
            <a: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556" y="2578608"/>
            <a:ext cx="15081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832"/>
                </a:solidFill>
              </a:defRPr>
            </a:pPr>
            <a:r>
              <a:t>Check missing values </a:t>
            </a:r>
          </a:p>
          <a:p>
            <a:pPr algn="ctr">
              <a:defRPr sz="1200">
                <a:solidFill>
                  <a:srgbClr val="232832"/>
                </a:solidFill>
              </a:defRPr>
            </a:pPr>
            <a:r>
              <a:t>&amp; duplicates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8031" y="2450592"/>
            <a:ext cx="292608" cy="384048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197100"/>
            <a:ext cx="1691640" cy="2444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1">
                <a:solidFill>
                  <a:srgbClr val="182B4D"/>
                </a:solidFill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78608"/>
            <a:ext cx="1691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832"/>
                </a:solidFill>
              </a:defRPr>
            </a:pPr>
            <a:r>
              <a:t>Convert Date to datetime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9752" y="2450592"/>
            <a:ext cx="292608" cy="384048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221230"/>
            <a:ext cx="1691640" cy="2203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1">
                <a:solidFill>
                  <a:srgbClr val="182B4D"/>
                </a:solidFill>
              </a:defRPr>
            </a:pPr>
            <a: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8250" y="2578608"/>
            <a:ext cx="17856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832"/>
                </a:solidFill>
              </a:defRPr>
            </a:pPr>
            <a:r>
              <a:t>Create year, month, hour, </a:t>
            </a:r>
          </a:p>
          <a:p>
            <a:pPr algn="ctr">
              <a:defRPr sz="1200">
                <a:solidFill>
                  <a:srgbClr val="232832"/>
                </a:solidFill>
              </a:defRPr>
            </a:pPr>
            <a:r>
              <a:t>day_of_week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91472" y="2450592"/>
            <a:ext cx="292608" cy="384048"/>
          </a:xfrm>
          <a:prstGeom prst="rightArrow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190115"/>
            <a:ext cx="1691640" cy="2514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1">
                <a:solidFill>
                  <a:srgbClr val="182B4D"/>
                </a:solidFill>
              </a:defRPr>
            </a:pPr>
            <a:r>
              <a:t>Prepare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578608"/>
            <a:ext cx="1691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832"/>
                </a:solidFill>
              </a:defRPr>
            </a:pPr>
            <a:r>
              <a:t>Separate X and 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Missing-value check: no missing values were found in the original dataset.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Duplicate check: 0 duplicate rows were found.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275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5</a:t>
            </a:r>
            <a:r>
              <a:t>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Understanding patterns before modelling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6459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Descriptive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Mean, standard deviation, minimum, maximum and quartiles.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64592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Correlation matrix and heatmap were used to study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645920"/>
          </a:xfrm>
          <a:prstGeom prst="rect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Boxplots were used to identify extreme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ApplianceEnergy has a mean of about 97.69 and a maximum of 1080 in the original data.</a:t>
            </a:r>
          </a:p>
          <a:p>
            <a:pPr>
              <a:spcAft>
                <a:spcPts val="12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Skewness was calculated to understand whether numerical features are symmetric or highly skewed.</a:t>
            </a:r>
          </a:p>
          <a:p>
            <a:pPr>
              <a:spcAft>
                <a:spcPts val="12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IQR-based outlier treatment was explored in the notebook.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2257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6</a:t>
            </a:r>
            <a:r>
              <a:t>. Correlation &amp; 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Finding variables related to appliance energy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1417320"/>
            <a:ext cx="4709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417320"/>
            <a:ext cx="73152" cy="14630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58191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Correlation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2075688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Hour has a positive relationship with appliance energy (about 0.217).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154680"/>
            <a:ext cx="4709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154680"/>
            <a:ext cx="73152" cy="146304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331927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3813048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Features with absolute correlation above 0.05 were selected in the notebook.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892040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868680"/>
          </a:xfrm>
          <a:prstGeom prst="rect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5056631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Important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153" y="5385942"/>
            <a:ext cx="43434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rPr lang="en-US"/>
              <a:t> </a:t>
            </a:r>
            <a:r>
              <a:t>Correlation shows association, not causation.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7186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7</a:t>
            </a:r>
            <a:r>
              <a:t>. Outlier Analysis – Boxplots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Actual plots from the notebook</a:t>
            </a:r>
          </a:p>
        </p:txBody>
      </p:sp>
      <p:pic>
        <p:nvPicPr>
          <p:cNvPr id="5" name="Picture 4" descr="appliance_box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657600" cy="2423160"/>
          </a:xfrm>
          <a:prstGeom prst="rect">
            <a:avLst/>
          </a:prstGeom>
        </p:spPr>
      </p:pic>
      <p:pic>
        <p:nvPicPr>
          <p:cNvPr id="6" name="Picture 5" descr="all_features_boxplo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657600" cy="2423160"/>
          </a:xfrm>
          <a:prstGeom prst="rect">
            <a:avLst/>
          </a:prstGeom>
        </p:spPr>
      </p:pic>
      <p:pic>
        <p:nvPicPr>
          <p:cNvPr id="7" name="Picture 6" descr="all_features_boxplo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234440"/>
            <a:ext cx="352044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D"/>
                </a:solidFill>
              </a:defRPr>
            </a:pPr>
            <a:r>
              <a:t>Appliance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D"/>
                </a:solidFill>
              </a:defRPr>
            </a:pPr>
            <a:r>
              <a:t>Before IQR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B4D"/>
                </a:solidFill>
              </a:defRPr>
            </a:pPr>
            <a:r>
              <a:t>After IQR treatment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6418580" cy="2028190"/>
          </a:xfrm>
          <a:prstGeom prst="roundRect">
            <a:avLst/>
          </a:prstGeom>
          <a:solidFill>
            <a:srgbClr val="1F2633"/>
          </a:solidFill>
          <a:ln>
            <a:solidFill>
              <a:srgbClr val="41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130" y="4436745"/>
            <a:ext cx="4386580" cy="1399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50">
                <a:solidFill>
                  <a:srgbClr val="E6EBF2"/>
                </a:solidFill>
                <a:latin typeface="Consolas" panose="020B0609020204030204"/>
              </a:defRPr>
            </a:pPr>
            <a:r>
              <a:t>def fix_outliers_iqr(df):</a:t>
            </a:r>
            <a:br/>
            <a:r>
              <a:t>    num = df.select_dtypes(include='number').columns</a:t>
            </a:r>
            <a:br/>
            <a:r>
              <a:t>    for col in num:</a:t>
            </a:r>
            <a:br/>
            <a:r>
              <a:t>        Q1 = df[col].quantile(0.25)</a:t>
            </a:r>
            <a:br/>
            <a:r>
              <a:t>        Q3 = df[col].quantile(0.75)</a:t>
            </a:r>
            <a:br/>
            <a:r>
              <a:t>        IQR = Q3 - Q1</a:t>
            </a:r>
            <a:br/>
            <a:r>
              <a:t>        lower = Q1 - 1.5*IQR</a:t>
            </a:r>
            <a:br/>
            <a:r>
              <a:t>        upper = Q3 + 1.5*IQR</a:t>
            </a:r>
            <a:br/>
            <a:r>
              <a:t>        df[col] = df[col].clip(lower, upper)</a:t>
            </a:r>
            <a:br/>
            <a:r>
              <a:t>    return 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562475"/>
            <a:ext cx="4050665" cy="14484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Why outlier analysis?</a:t>
            </a:r>
          </a:p>
          <a:p>
            <a:pPr>
              <a:lnSpc>
                <a:spcPct val="110000"/>
              </a:lnSpc>
              <a:defRPr sz="1300">
                <a:solidFill>
                  <a:srgbClr val="232832"/>
                </a:solidFill>
              </a:defRPr>
            </a:pPr>
            <a:r>
              <a:t>•</a:t>
            </a:r>
            <a:r>
              <a:rPr sz="1400"/>
              <a:t> Detect extreme values</a:t>
            </a:r>
            <a:endParaRPr sz="1400"/>
          </a:p>
          <a:p>
            <a:pPr>
              <a:lnSpc>
                <a:spcPct val="110000"/>
              </a:lnSpc>
              <a:defRPr sz="1300">
                <a:solidFill>
                  <a:srgbClr val="232832"/>
                </a:solidFill>
              </a:defRPr>
            </a:pPr>
            <a:r>
              <a:rPr sz="1400"/>
              <a:t>• Reduce their influence on models</a:t>
            </a:r>
            <a:endParaRPr sz="1400"/>
          </a:p>
          <a:p>
            <a:pPr>
              <a:lnSpc>
                <a:spcPct val="110000"/>
              </a:lnSpc>
              <a:defRPr sz="1300">
                <a:solidFill>
                  <a:srgbClr val="232832"/>
                </a:solidFill>
              </a:defRPr>
            </a:pPr>
            <a:r>
              <a:rPr sz="1400"/>
              <a:t>• Compare before/after distributions</a:t>
            </a:r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620256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529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8</a:t>
            </a:r>
            <a:r>
              <a:t>. Train–Test Split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Preparing data for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Input 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Predictor variables such as temperature, humidity, weather and time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2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Target (y)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7568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ApplianceEnergy — the value to predict.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75688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80% training data and 20% testing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train_test_split() is used with random_state = 42.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StandardScaler is prepared to standardize the training and test features.</a:t>
            </a:r>
          </a:p>
          <a:p>
            <a:pPr>
              <a:spcAft>
                <a:spcPts val="1200"/>
              </a:spcAft>
              <a:defRPr sz="1800">
                <a:solidFill>
                  <a:srgbClr val="232832"/>
                </a:solidFill>
                <a:latin typeface="Aptos"/>
              </a:defRPr>
            </a:pPr>
            <a:r>
              <a:t>• Scaling is especially useful for algorithms that are sensitive to feature magnitude.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377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9</a:t>
            </a:r>
            <a:r>
              <a:t>. 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How do we judge the predictions?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224028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Average absolute prediction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978"/>
                </a:solidFill>
              </a:defRPr>
            </a:pPr>
            <a:r>
              <a:t>Lower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73152" cy="224028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276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21408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Average squared prediction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290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978"/>
                </a:solidFill>
              </a:defRPr>
            </a:pPr>
            <a:r>
              <a:t>Lower is better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73152" cy="2240280"/>
          </a:xfrm>
          <a:prstGeom prst="rect">
            <a:avLst/>
          </a:prstGeom>
          <a:solidFill>
            <a:srgbClr val="2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6276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21408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Square root of MSE; error in target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978"/>
                </a:solidFill>
              </a:defRPr>
            </a:pPr>
            <a:r>
              <a:t>Lower is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46304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39" y="1463040"/>
            <a:ext cx="73152" cy="2240280"/>
          </a:xfrm>
          <a:prstGeom prst="rect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7" y="162763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7" y="2121408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How well the model explains target variation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4290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978"/>
                </a:solidFill>
              </a:defRPr>
            </a:pPr>
            <a:r>
              <a:t>Higher is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2B4D"/>
                </a:solidFill>
              </a:defRPr>
            </a:pPr>
            <a:r>
              <a:t>RMSE = √MSE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2354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10.</a:t>
            </a:r>
            <a:r>
              <a:t> Regression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Four models are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4709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Simple linear relationship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691640"/>
          </a:xfrm>
          <a:prstGeom prst="rect">
            <a:avLst/>
          </a:prstGeom>
          <a:solidFill>
            <a:srgbClr val="2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075688"/>
            <a:ext cx="4709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Rule-based non-linear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2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24528"/>
            <a:ext cx="4709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Many decision trees combined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91640"/>
          </a:xfrm>
          <a:prstGeom prst="rect">
            <a:avLst/>
          </a:prstGeom>
          <a:solidFill>
            <a:srgbClr val="EF9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7307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B4D"/>
                </a:solidFill>
              </a:defRPr>
            </a:pPr>
            <a:r>
              <a:t>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224528"/>
            <a:ext cx="4709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2"/>
                </a:solidFill>
              </a:defRPr>
            </a:pPr>
            <a:r>
              <a:t>Sequential trees that improve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2"/>
                </a:solidFill>
                <a:latin typeface="Aptos"/>
              </a:defRPr>
            </a:pPr>
            <a:r>
              <a:t>• Goal: choose the model with lower error and higher R²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9491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/>
              <a:t>11</a:t>
            </a:r>
            <a:r>
              <a:t>. Model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Results recorded in the notebook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417320"/>
          <a:ext cx="4892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/>
                <a:gridCol w="978408"/>
                <a:gridCol w="978408"/>
                <a:gridCol w="978408"/>
                <a:gridCol w="978408"/>
              </a:tblGrid>
              <a:tr h="6766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>
                    <a:solidFill>
                      <a:srgbClr val="18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54864" marR="54864">
                    <a:solidFill>
                      <a:srgbClr val="18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MSE</a:t>
                      </a:r>
                    </a:p>
                  </a:txBody>
                  <a:tcPr marL="54864" marR="54864">
                    <a:solidFill>
                      <a:srgbClr val="18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54864" marR="54864">
                    <a:solidFill>
                      <a:srgbClr val="18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54864" marR="54864">
                    <a:solidFill>
                      <a:srgbClr val="182B4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0.11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0.82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0.92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0.05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2"/>
                          </a:solidFill>
                          <a:latin typeface="Aptos"/>
                        </a:defRPr>
                      </a:pPr>
                      <a:r>
                        <a:t>0.96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074920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79669"/>
                </a:solidFill>
              </a:defRPr>
            </a:pPr>
            <a:r>
              <a:t>Best R²: Gradient Boosting (0.96)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What did we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Python provides a complete workflow for energy data analysis — from cleaning to prediction.</a:t>
            </a:r>
          </a:p>
          <a:p>
            <a:pPr>
              <a:spcAft>
                <a:spcPts val="12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Exploratory analysis helps understand correlations, skewness and outliers before modelling.</a:t>
            </a:r>
          </a:p>
          <a:p>
            <a:pPr>
              <a:spcAft>
                <a:spcPts val="12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Four regression algorithms were compared using MAE, MSE, RMSE and R².</a:t>
            </a:r>
          </a:p>
          <a:p>
            <a:pPr>
              <a:spcAft>
                <a:spcPts val="12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Gradient Boosting achieved the highest R² score in the recorded results (0.96).</a:t>
            </a:r>
          </a:p>
          <a:p>
            <a:pPr>
              <a:spcAft>
                <a:spcPts val="12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Therefore, Gradient Boosting is the preferred model among the four tested models in this notebook.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62482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33930" y="2171700"/>
            <a:ext cx="768985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sz="7200"/>
              <a:t>THANK YOU</a:t>
            </a:r>
            <a:endParaRPr sz="7200"/>
          </a:p>
        </p:txBody>
      </p:sp>
      <p:sp>
        <p:nvSpPr>
          <p:cNvPr id="4" name="TextBox 3"/>
          <p:cNvSpPr txBox="1"/>
          <p:nvPr/>
        </p:nvSpPr>
        <p:spPr>
          <a:xfrm>
            <a:off x="1188720" y="3335655"/>
            <a:ext cx="9784080" cy="5048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2500">
                <a:solidFill>
                  <a:srgbClr val="CDDCF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77790"/>
            <a:ext cx="8503920" cy="4000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Energy Data Analysis • Regression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4849</Words>
  <Application>WPS Presentation</Application>
  <PresentationFormat>On-screen Show (4:3)</PresentationFormat>
  <Paragraphs>318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Consolas</vt:lpstr>
      <vt:lpstr>Calibri</vt:lpstr>
      <vt:lpstr>Microsoft YaHei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Ammu Kutty</cp:lastModifiedBy>
  <cp:revision>5</cp:revision>
  <dcterms:created xsi:type="dcterms:W3CDTF">2013-01-27T09:14:00Z</dcterms:created>
  <dcterms:modified xsi:type="dcterms:W3CDTF">2026-10-07T08:58:52Z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38B009981D934536868CFDE2EAAAE6E5_13</vt:lpwstr>
  </property>
  <property fmtid="{D5CDD505-2E9C-101B-9397-08002B2CF9AE}" pid="3" name="KSOProductBuildVer">
    <vt:lpwstr>2057-12.2.0.23206</vt:lpwstr>
  </property>
</Properties>
</file>